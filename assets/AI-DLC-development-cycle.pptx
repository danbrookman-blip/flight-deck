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AI-DLC playbook for Engineering. One line frames it: the AI plans and types, we decide. Companion to the web page; this deck goes a layer deeper on each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hangs off this. The split is deliberate: AI handles volume and speed, humans hold judgment. Keep coming back to it - if a decision is being made without a person, the method has broken.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clockwise from the top. Blue is the AI doing work, purple with a coral square is a human gate. The loop is fractal - it runs at the level of a whole phase and again inside a single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phases, but treat them as a loop not a line. Inception feeds Construction feeds Operations, and findings flow back upstream. Operations is deliberately thin for v1 - flagged, decision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Inception is about understanding, not code. The AI does the legwork of drafting; the Pod's job is to challenge and group. You leave with Units sized for one Pod and a clear measure of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Construction is where the AI earns its keep on volume - design through code and tests. The discipline is the gate between stages: nothing advances on a design the Pod has not actually decided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Operations is thin. For v1 we do not rebuild release and monitoring - we keep what is working on Airship and Toggle. How far the loop extends into Ops is an open decision, not a v1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words, one ladder. Intent is the why, Unit is what one Pod owns, Bolt is the slice you finish in days. If a Bolt is creeping past a few days, it is really two Bolts.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 is who you are; Mob is what you are doing right now. The big change from Agile: no separate QA function - the Pod validates the AI itself. At our size, plan for two Pods, three at a stretch.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non-negotiable. The AI is fast and tireless but not accountable. The coral square is the gate - wherever you see it, a named person has signed off. No gate, no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quiet way the method dies - not by rejection but by lazy approval. Name it out loud in the Pod. The day approvals feel automatic is the day to slow the gates down, not remove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keeps a heavy-sounding method usable for two Pods. Both breadth and depth flex. The one thing that never flexes is the gate - you can do less process, never less deciding.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assumption: we are changing a live system, not starting fresh. The AI loads the real code first so its plan fits what exists. Greenfield is the exception, and it gets the full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this left to right. Notice the rhythm: AI, gate, AI, gate. Six touches, three of them human. That cadence is the whole method in miniature, and it fits inside a slice measured in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structure is agreed; do not relitigate it. What is open is on the right - mostly numbers and how far Ops goes. The most useful next step is picking the first real Intent to run through the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line. Then point at slide 15 - the open decisions - and ask for the first real Intent to run. The goal is to leave with a commitment to try the loop on something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914400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1188720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1417320"/>
            <a:ext cx="91440" cy="91440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5" name="Shape 3"/>
          <p:cNvSpPr/>
          <p:nvPr/>
        </p:nvSpPr>
        <p:spPr>
          <a:xfrm>
            <a:off x="11292840" y="713232"/>
            <a:ext cx="82296" cy="82296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pic>
        <p:nvPicPr>
          <p:cNvPr id="6" name="Image 0" descr="assets/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48640"/>
            <a:ext cx="1616062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31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AI-DLC</a:t>
            </a:r>
            <a:pPr algn="l" indent="0" marL="0">
              <a:buNone/>
            </a:pPr>
            <a:r>
              <a:rPr lang="en-US" sz="1300" b="1" spc="3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  /   </a:t>
            </a:r>
            <a:pPr algn="l" indent="0" marL="0">
              <a:buNone/>
            </a:pPr>
            <a:r>
              <a:rPr lang="en-US" sz="1300" b="1" spc="30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DEVELOPMENT CYCLE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974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How the development</a:t>
            </a:r>
            <a:endParaRPr lang="en-US" sz="58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cycle works</a:t>
            </a:r>
            <a:endParaRPr lang="en-US" sz="5800" dirty="0"/>
          </a:p>
        </p:txBody>
      </p:sp>
      <p:sp>
        <p:nvSpPr>
          <p:cNvPr id="9" name="Text 6"/>
          <p:cNvSpPr/>
          <p:nvPr/>
        </p:nvSpPr>
        <p:spPr>
          <a:xfrm>
            <a:off x="566928" y="48006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AI does the planning and the typing. </a:t>
            </a:r>
            <a:pPr algn="l" indent="0" marL="0">
              <a:lnSpc>
                <a:spcPts val="2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 do the deciding.</a:t>
            </a:r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 Every change runs an AI-led loop with a person steering at the points that matter.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566928" y="6217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ENGINEERING  /  INTERNAL  /  AIRSHIP &amp; TOGGLE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6FA0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ONE IDEA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10578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AI plans and executes.</a:t>
            </a:r>
            <a:endParaRPr lang="en-US" sz="40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Humans decide and validate.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sentence defines the method. The AI is never the final authority - it does the work, and a person owns every decision that matters.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657600"/>
            <a:ext cx="5346040" cy="2331720"/>
          </a:xfrm>
          <a:prstGeom prst="roundRect">
            <a:avLst>
              <a:gd name="adj" fmla="val 5490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402336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2430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41422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28216" y="4005072"/>
            <a:ext cx="397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28216" y="4242816"/>
            <a:ext cx="397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Does the work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50976" y="4892040"/>
            <a:ext cx="461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Proposes the plan for each change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Drafts the design, the code and the tests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the tests and reports back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78728" y="3657600"/>
            <a:ext cx="5346040" cy="2331720"/>
          </a:xfrm>
          <a:prstGeom prst="roundRect">
            <a:avLst>
              <a:gd name="adj" fmla="val 5490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62776" y="402336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3A2330"/>
          </a:solidFill>
          <a:ln/>
        </p:spPr>
      </p:sp>
      <p:sp>
        <p:nvSpPr>
          <p:cNvPr id="14" name="Shape 11"/>
          <p:cNvSpPr/>
          <p:nvPr/>
        </p:nvSpPr>
        <p:spPr>
          <a:xfrm>
            <a:off x="6836512" y="41970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5" name="Text 12"/>
          <p:cNvSpPr/>
          <p:nvPr/>
        </p:nvSpPr>
        <p:spPr>
          <a:xfrm>
            <a:off x="7440016" y="4005072"/>
            <a:ext cx="397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40016" y="4242816"/>
            <a:ext cx="397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Own the decisions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62776" y="4892040"/>
            <a:ext cx="461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Set scope and depth before it runs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Sign off at every gate that matters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Validate the result against the goal</a:t>
            </a:r>
            <a:endParaRPr lang="en-US" sz="1350" dirty="0"/>
          </a:p>
        </p:txBody>
      </p:sp>
      <p:pic>
        <p:nvPicPr>
          <p:cNvPr id="18" name="Image 1" descr="assets/wordma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GUARDRAIL THAT COMES FIRST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6FA0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CORE MECHANIC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Every change runs the same four-step loop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417320" y="2788920"/>
            <a:ext cx="2743200" cy="2743200"/>
          </a:xfrm>
          <a:prstGeom prst="ellipse">
            <a:avLst/>
          </a:prstGeom>
          <a:ln w="19050">
            <a:solidFill>
              <a:srgbClr val="4A3F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2706624"/>
            <a:ext cx="164592" cy="16459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" y="406908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35935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UNDER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43982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EVERY CHANGE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2514600"/>
            <a:ext cx="548640" cy="548640"/>
          </a:xfrm>
          <a:prstGeom prst="ellipse">
            <a:avLst/>
          </a:prstGeom>
          <a:solidFill>
            <a:srgbClr val="3B7BF7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2075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b="1" spc="10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proposes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86200" y="3886200"/>
            <a:ext cx="548640" cy="548640"/>
          </a:xfrm>
          <a:prstGeom prst="ellipse">
            <a:avLst/>
          </a:prstGeom>
          <a:solidFill>
            <a:srgbClr val="C840EC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06824" y="430682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50" b="1" spc="100" kern="0" dirty="0">
                <a:solidFill>
                  <a:srgbClr val="C840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  /  GATE</a:t>
            </a:r>
            <a:endParaRPr lang="en-US" sz="85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 review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5257800"/>
            <a:ext cx="548640" cy="548640"/>
          </a:xfrm>
          <a:prstGeom prst="ellipse">
            <a:avLst/>
          </a:prstGeom>
          <a:solidFill>
            <a:srgbClr val="3B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5824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850" b="1" spc="10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executes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43000" y="3886200"/>
            <a:ext cx="548640" cy="548640"/>
          </a:xfrm>
          <a:prstGeom prst="ellipse">
            <a:avLst/>
          </a:prstGeom>
          <a:solidFill>
            <a:srgbClr val="C840EC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63624" y="4306824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3" name="Text 21"/>
          <p:cNvSpPr/>
          <p:nvPr/>
        </p:nvSpPr>
        <p:spPr>
          <a:xfrm>
            <a:off x="-8229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850" b="1" spc="100" kern="0" dirty="0">
                <a:solidFill>
                  <a:srgbClr val="C840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  /  GATE</a:t>
            </a:r>
            <a:endParaRPr lang="en-US" sz="850" dirty="0"/>
          </a:p>
          <a:p>
            <a:pPr algn="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 validate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06440" y="1783080"/>
            <a:ext cx="5818327" cy="1030986"/>
          </a:xfrm>
          <a:prstGeom prst="roundRect">
            <a:avLst>
              <a:gd name="adj" fmla="val 8869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7608" y="2042541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4304A"/>
          </a:solidFill>
          <a:ln/>
        </p:spPr>
      </p:sp>
      <p:sp>
        <p:nvSpPr>
          <p:cNvPr id="26" name="Text 24"/>
          <p:cNvSpPr/>
          <p:nvPr/>
        </p:nvSpPr>
        <p:spPr>
          <a:xfrm>
            <a:off x="6007608" y="204254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0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0840" y="1901952"/>
            <a:ext cx="4721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2084832"/>
            <a:ext cx="4721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Proposes a plan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20840" y="2404872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Its first-cut breakdown of how it will tackle the work.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06440" y="2978658"/>
            <a:ext cx="5818327" cy="1030986"/>
          </a:xfrm>
          <a:prstGeom prst="roundRect">
            <a:avLst>
              <a:gd name="adj" fmla="val 8869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7608" y="3238119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A2330"/>
          </a:solidFill>
          <a:ln/>
        </p:spPr>
      </p:sp>
      <p:sp>
        <p:nvSpPr>
          <p:cNvPr id="32" name="Text 30"/>
          <p:cNvSpPr/>
          <p:nvPr/>
        </p:nvSpPr>
        <p:spPr>
          <a:xfrm>
            <a:off x="6007608" y="323811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40E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20840" y="3097530"/>
            <a:ext cx="4721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40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  /  GATE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20840" y="3280410"/>
            <a:ext cx="4721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Review and adjust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20840" y="3600450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Check the scope and depth, change what is wrong, then let it run.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806440" y="4174236"/>
            <a:ext cx="5818327" cy="1030986"/>
          </a:xfrm>
          <a:prstGeom prst="roundRect">
            <a:avLst>
              <a:gd name="adj" fmla="val 8869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07608" y="4433697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24304A"/>
          </a:solidFill>
          <a:ln/>
        </p:spPr>
      </p:sp>
      <p:sp>
        <p:nvSpPr>
          <p:cNvPr id="38" name="Text 36"/>
          <p:cNvSpPr/>
          <p:nvPr/>
        </p:nvSpPr>
        <p:spPr>
          <a:xfrm>
            <a:off x="6007608" y="443369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A0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20840" y="4293108"/>
            <a:ext cx="4721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4475988"/>
            <a:ext cx="4721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Executes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720840" y="4796028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the approved plan, pausing at each meaningful step.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806440" y="5369814"/>
            <a:ext cx="5818327" cy="1030986"/>
          </a:xfrm>
          <a:prstGeom prst="roundRect">
            <a:avLst>
              <a:gd name="adj" fmla="val 8869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7608" y="5629275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3A2330"/>
          </a:solidFill>
          <a:ln/>
        </p:spPr>
      </p:sp>
      <p:sp>
        <p:nvSpPr>
          <p:cNvPr id="44" name="Text 42"/>
          <p:cNvSpPr/>
          <p:nvPr/>
        </p:nvSpPr>
        <p:spPr>
          <a:xfrm>
            <a:off x="6007608" y="562927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40E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20840" y="5488686"/>
            <a:ext cx="4721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40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YOU  /  GATE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20840" y="5671566"/>
            <a:ext cx="47210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720840" y="5991606"/>
            <a:ext cx="4675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Confirm the result. Each output becomes the input for the next step.</a:t>
            </a:r>
            <a:endParaRPr lang="en-US" sz="1150" dirty="0"/>
          </a:p>
        </p:txBody>
      </p:sp>
      <p:pic>
        <p:nvPicPr>
          <p:cNvPr id="48" name="Image 0" descr="assets/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LOOP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THREE PHASES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Work out what to build, build it, then run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Each phase is an AI-led loop with you steering, and each hands richer context to the next. Not a rigid waterfall - work flows back and forth as understanding improves.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3490874" cy="3703320"/>
          </a:xfrm>
          <a:prstGeom prst="roundRect">
            <a:avLst>
              <a:gd name="adj" fmla="val 3405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6974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EEF3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83464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6112" y="34290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Inception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96112" y="3813048"/>
            <a:ext cx="2850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WHAT TO BUILD, AND WHY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96112" y="4142232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Turns a high-level Intent into a set of Units a Pod can build. The AI asks, drafts stories and risks; the Pod refines and groups them.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6112" y="4983480"/>
            <a:ext cx="2832506" cy="0"/>
          </a:xfrm>
          <a:prstGeom prst="line">
            <a:avLst/>
          </a:prstGeom>
          <a:noFill/>
          <a:ln w="12700">
            <a:solidFill>
              <a:srgbClr val="E6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5074920"/>
            <a:ext cx="285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COMES OUT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96112" y="5294376"/>
            <a:ext cx="28325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Validated Units - stories, NFRs, risks, a success measure, suggested Bolts.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50410" y="2331720"/>
            <a:ext cx="3490874" cy="3703320"/>
          </a:xfrm>
          <a:prstGeom prst="roundRect">
            <a:avLst>
              <a:gd name="adj" fmla="val 3405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79594" y="26974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F7EAF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754" y="2834640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79594" y="34290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Construction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679594" y="3813048"/>
            <a:ext cx="2850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TO BUILD IT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679594" y="4142232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build, in Bolts. Domain design, then logical design, then code and tests generated together - the Pod deciding the trade-offs at each gate.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679594" y="4983480"/>
            <a:ext cx="2832506" cy="0"/>
          </a:xfrm>
          <a:prstGeom prst="line">
            <a:avLst/>
          </a:prstGeom>
          <a:noFill/>
          <a:ln w="12700">
            <a:solidFill>
              <a:srgbClr val="E6E0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79594" y="5074920"/>
            <a:ext cx="285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31D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COMES OUT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679594" y="5294376"/>
            <a:ext cx="28325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Tested, deployable code, traceable back to the story that produced it.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133893" y="2331720"/>
            <a:ext cx="3490874" cy="3703320"/>
          </a:xfrm>
          <a:prstGeom prst="roundRect">
            <a:avLst>
              <a:gd name="adj" fmla="val 3405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63077" y="2697480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FEEEE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237" y="2834640"/>
            <a:ext cx="310896" cy="310896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0326319" y="2752344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EEEEC"/>
          </a:solidFill>
          <a:ln w="12700">
            <a:solidFill>
              <a:srgbClr val="FAC9C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326319" y="275234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THIN FOR V1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463077" y="3429000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Operations</a:t>
            </a:r>
            <a:endParaRPr lang="en-US" sz="2100" dirty="0"/>
          </a:p>
        </p:txBody>
      </p:sp>
      <p:sp>
        <p:nvSpPr>
          <p:cNvPr id="30" name="Text 25"/>
          <p:cNvSpPr/>
          <p:nvPr/>
        </p:nvSpPr>
        <p:spPr>
          <a:xfrm>
            <a:off x="8463077" y="3813048"/>
            <a:ext cx="2850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 IT AND KEEP IT HEALTHY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463077" y="4142232"/>
            <a:ext cx="28325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Deploy, observe, maintain. This is the least developed phase, and where our two live platforms spend most of their time.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463077" y="4983480"/>
            <a:ext cx="2832506" cy="0"/>
          </a:xfrm>
          <a:prstGeom prst="line">
            <a:avLst/>
          </a:prstGeom>
          <a:noFill/>
          <a:ln w="12700">
            <a:solidFill>
              <a:srgbClr val="E6E0E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463077" y="5074920"/>
            <a:ext cx="285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NOW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463077" y="5294376"/>
            <a:ext cx="28325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production on our existing release and monitoring practice.</a:t>
            </a:r>
            <a:endParaRPr lang="en-US" sz="1150" dirty="0"/>
          </a:p>
        </p:txBody>
      </p:sp>
      <p:pic>
        <p:nvPicPr>
          <p:cNvPr id="35" name="Image 3" descr="assets/wordmark_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THREE PHASES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1  /  INCEPTION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Decide what to build, and why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30207" y="603504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EEF3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7132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41687" y="603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INCEPTION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Turns a high-level Intent into a set of Units a Pod can build - the work understood well enough to start.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514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880360"/>
            <a:ext cx="6126480" cy="984504"/>
          </a:xfrm>
          <a:prstGeom prst="roundRect">
            <a:avLst>
              <a:gd name="adj" fmla="val 9288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31440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144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89888" y="2990088"/>
            <a:ext cx="5120640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Asks clarifying questions - multiple choice with an Other option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" y="4011168"/>
            <a:ext cx="6126480" cy="984504"/>
          </a:xfrm>
          <a:prstGeom prst="roundRect">
            <a:avLst>
              <a:gd name="adj" fmla="val 9288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8096" y="42748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274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89888" y="4120896"/>
            <a:ext cx="5120640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Drafts user stories, NFRs and the risks it can see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" y="5141976"/>
            <a:ext cx="6126480" cy="984504"/>
          </a:xfrm>
          <a:prstGeom prst="roundRect">
            <a:avLst>
              <a:gd name="adj" fmla="val 9288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8096" y="54056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EEEEC"/>
          </a:solidFill>
          <a:ln/>
        </p:spPr>
      </p:sp>
      <p:sp>
        <p:nvSpPr>
          <p:cNvPr id="20" name="Shape 17"/>
          <p:cNvSpPr/>
          <p:nvPr/>
        </p:nvSpPr>
        <p:spPr>
          <a:xfrm>
            <a:off x="886968" y="552450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1" name="Text 18"/>
          <p:cNvSpPr/>
          <p:nvPr/>
        </p:nvSpPr>
        <p:spPr>
          <a:xfrm>
            <a:off x="1389888" y="5251704"/>
            <a:ext cx="5120640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  /  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 refines, challenges and groups them into Units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059168" y="2514600"/>
            <a:ext cx="4565599" cy="3611880"/>
          </a:xfrm>
          <a:prstGeom prst="roundRect">
            <a:avLst>
              <a:gd name="adj" fmla="val 3291"/>
            </a:avLst>
          </a:prstGeom>
          <a:solidFill>
            <a:srgbClr val="16101D"/>
          </a:solidFill>
          <a:ln/>
        </p:spPr>
      </p:sp>
      <p:sp>
        <p:nvSpPr>
          <p:cNvPr id="23" name="Text 20"/>
          <p:cNvSpPr/>
          <p:nvPr/>
        </p:nvSpPr>
        <p:spPr>
          <a:xfrm>
            <a:off x="7424928" y="2898648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IN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24928" y="3136392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Mob Elaboration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7424928" y="3749040"/>
            <a:ext cx="3834079" cy="0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24928" y="3931920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COMES OUT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43216" y="4251960"/>
            <a:ext cx="378835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Validated Units, each a block one Pod can own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Stories, NFRs and named risks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success measure to validate against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Suggested Bolts to deliver it</a:t>
            </a:r>
            <a:endParaRPr lang="en-US" sz="1300" dirty="0"/>
          </a:p>
        </p:txBody>
      </p:sp>
      <p:pic>
        <p:nvPicPr>
          <p:cNvPr id="28" name="Image 1" descr="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INCEPTION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2  /  CONSTRUCTION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Build it, in Bolts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30207" y="603504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7E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7132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41687" y="603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31D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CONSTRUCTION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build runs as a gated sequence. The AI generates each stage; the Pod decides the trade-offs before it advances.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514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31D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880360"/>
            <a:ext cx="6126480" cy="701802"/>
          </a:xfrm>
          <a:prstGeom prst="roundRect">
            <a:avLst>
              <a:gd name="adj" fmla="val 13029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300266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00266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89888" y="2990088"/>
            <a:ext cx="5120640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Domain design - the shape of the problem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" y="3728466"/>
            <a:ext cx="6126480" cy="701802"/>
          </a:xfrm>
          <a:prstGeom prst="roundRect">
            <a:avLst>
              <a:gd name="adj" fmla="val 13029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8096" y="38507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385076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89888" y="3838194"/>
            <a:ext cx="5120640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Logical design - how it will actually work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" y="4576572"/>
            <a:ext cx="6126480" cy="701802"/>
          </a:xfrm>
          <a:prstGeom prst="roundRect">
            <a:avLst>
              <a:gd name="adj" fmla="val 13029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8096" y="469887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20" name="Text 17"/>
          <p:cNvSpPr/>
          <p:nvPr/>
        </p:nvSpPr>
        <p:spPr>
          <a:xfrm>
            <a:off x="768096" y="469887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89888" y="4686300"/>
            <a:ext cx="5120640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Code and tests, generated together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66928" y="5424678"/>
            <a:ext cx="6126480" cy="701802"/>
          </a:xfrm>
          <a:prstGeom prst="roundRect">
            <a:avLst>
              <a:gd name="adj" fmla="val 13029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68096" y="55469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EEEEC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968" y="5665851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5" name="Text 22"/>
          <p:cNvSpPr/>
          <p:nvPr/>
        </p:nvSpPr>
        <p:spPr>
          <a:xfrm>
            <a:off x="1389888" y="5534406"/>
            <a:ext cx="5120640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  /  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 decides the trade-offs at each gate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059168" y="2514600"/>
            <a:ext cx="4565599" cy="3611880"/>
          </a:xfrm>
          <a:prstGeom prst="roundRect">
            <a:avLst>
              <a:gd name="adj" fmla="val 3291"/>
            </a:avLst>
          </a:prstGeom>
          <a:solidFill>
            <a:srgbClr val="16101D"/>
          </a:solidFill>
          <a:ln/>
        </p:spPr>
      </p:sp>
      <p:sp>
        <p:nvSpPr>
          <p:cNvPr id="27" name="Text 24"/>
          <p:cNvSpPr/>
          <p:nvPr/>
        </p:nvSpPr>
        <p:spPr>
          <a:xfrm>
            <a:off x="7424928" y="2898648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RUNS IN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24928" y="3136392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Mob Construction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7424928" y="3749040"/>
            <a:ext cx="3834079" cy="0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24928" y="3931920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COMES OUT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443216" y="4251960"/>
            <a:ext cx="378835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Tested, deployable code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Traceable back to the story that produced it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Trade-offs decided by people, not defaulted</a:t>
            </a:r>
            <a:endParaRPr lang="en-US" sz="1300" dirty="0"/>
          </a:p>
        </p:txBody>
      </p:sp>
      <p:pic>
        <p:nvPicPr>
          <p:cNvPr id="32" name="Image 1" descr="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CONSTRUCTION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PHASE 3  /  OPERATIONS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Run it and keep it healthy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30207" y="603504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FEEEE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9935" y="7132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41687" y="6035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" y="1600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Deploy, observe, maintain. This is the least developed phase - and the one our two live platforms spend most of their time in.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51460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" y="2880360"/>
            <a:ext cx="6126480" cy="984504"/>
          </a:xfrm>
          <a:prstGeom prst="roundRect">
            <a:avLst>
              <a:gd name="adj" fmla="val 9288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31440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31440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89888" y="2990088"/>
            <a:ext cx="5120640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Deploy the validated change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66928" y="4011168"/>
            <a:ext cx="6126480" cy="984504"/>
          </a:xfrm>
          <a:prstGeom prst="roundRect">
            <a:avLst>
              <a:gd name="adj" fmla="val 9288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68096" y="42748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EF3FE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" y="4274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BF7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89888" y="4120896"/>
            <a:ext cx="5120640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Observe - watch behaviour in production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66928" y="5141976"/>
            <a:ext cx="6126480" cy="984504"/>
          </a:xfrm>
          <a:prstGeom prst="roundRect">
            <a:avLst>
              <a:gd name="adj" fmla="val 9288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88900" dist="25400" dir="5400000">
              <a:srgbClr val="16101D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68096" y="54056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EEEEC"/>
          </a:solidFill>
          <a:ln/>
        </p:spPr>
      </p:sp>
      <p:sp>
        <p:nvSpPr>
          <p:cNvPr id="20" name="Shape 17"/>
          <p:cNvSpPr/>
          <p:nvPr/>
        </p:nvSpPr>
        <p:spPr>
          <a:xfrm>
            <a:off x="886968" y="552450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1" name="Text 18"/>
          <p:cNvSpPr/>
          <p:nvPr/>
        </p:nvSpPr>
        <p:spPr>
          <a:xfrm>
            <a:off x="1389888" y="5251704"/>
            <a:ext cx="5120640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850" b="1" spc="12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  /  </a:t>
            </a:r>
            <a:endParaRPr lang="en-US" sz="8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People own incidents, releases and what ships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059168" y="2514600"/>
            <a:ext cx="4565599" cy="3611880"/>
          </a:xfrm>
          <a:prstGeom prst="roundRect">
            <a:avLst>
              <a:gd name="adj" fmla="val 3291"/>
            </a:avLst>
          </a:prstGeom>
          <a:solidFill>
            <a:srgbClr val="16101D"/>
          </a:solidFill>
          <a:ln/>
        </p:spPr>
      </p:sp>
      <p:sp>
        <p:nvSpPr>
          <p:cNvPr id="23" name="Text 20"/>
          <p:cNvSpPr/>
          <p:nvPr/>
        </p:nvSpPr>
        <p:spPr>
          <a:xfrm>
            <a:off x="7424928" y="2898648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FOR V1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424928" y="3136392"/>
            <a:ext cx="38340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Keep what works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7424928" y="3749040"/>
            <a:ext cx="3834079" cy="0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24928" y="3931920"/>
            <a:ext cx="3834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DECISION NEEDED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43216" y="4251960"/>
            <a:ext cx="378835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production on our existing release practice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Keep current monitoring as-is for now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7DF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Decide later how deep AI-DLC reaches into Ops</a:t>
            </a:r>
            <a:endParaRPr lang="en-US" sz="1300" dirty="0"/>
          </a:p>
        </p:txBody>
      </p:sp>
      <p:pic>
        <p:nvPicPr>
          <p:cNvPr id="28" name="Image 1" descr="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WORK HIERARCHY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Intent breaks into Units, Units ship in Bolts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vocabulary for how work is sized, from the goal down to the slice you build today.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3490874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700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F7EA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8163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438144"/>
            <a:ext cx="2850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01  /  INTENT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694176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goal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14400" y="411480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high-level statement of what you want and why. The starting point the AI decomposes into real work.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39514" y="36118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0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&gt;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50410" y="2286000"/>
            <a:ext cx="3490874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7882" y="26700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F7EA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186" y="281635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7882" y="3438144"/>
            <a:ext cx="2850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02  /  UNIT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697882" y="3694176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block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4697882" y="411480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self-contained block one Pod can build without constant cross-talk. Roughly an epic.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697882" y="498348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One Pod owns it end to end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822997" y="361188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40E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&gt;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8133893" y="2286000"/>
            <a:ext cx="3490874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481365" y="2670048"/>
            <a:ext cx="603504" cy="603504"/>
          </a:xfrm>
          <a:prstGeom prst="roundRect">
            <a:avLst>
              <a:gd name="adj" fmla="val 21212"/>
            </a:avLst>
          </a:prstGeom>
          <a:solidFill>
            <a:srgbClr val="FEEEEC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669" y="281635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81365" y="3438144"/>
            <a:ext cx="28507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03  /  BOLT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481365" y="3694176"/>
            <a:ext cx="2850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slice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8481365" y="4114800"/>
            <a:ext cx="28325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smallest delivery cycle: plan to validated and done. What Scrum called a sprint, rebuilt to run short.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481365" y="4983480"/>
            <a:ext cx="28325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Hours to days, not weeks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66928" y="5760720"/>
            <a:ext cx="11057839" cy="713232"/>
          </a:xfrm>
          <a:prstGeom prst="roundRect">
            <a:avLst>
              <a:gd name="adj" fmla="val 15385"/>
            </a:avLst>
          </a:prstGeom>
          <a:solidFill>
            <a:srgbClr val="F2ECF8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980176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44168" y="5760720"/>
            <a:ext cx="99605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Unit is delivered through one or more Bolts</a:t>
            </a:r>
            <a:pPr indent="0" marL="0"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 -  run in parallel or back to back.</a:t>
            </a:r>
            <a:endParaRPr lang="en-US" sz="1400" dirty="0"/>
          </a:p>
        </p:txBody>
      </p:sp>
      <p:pic>
        <p:nvPicPr>
          <p:cNvPr id="31" name="Image 4" descr="assets/wordmark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 HIERARCHY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WHO RUNS IT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 Pod is the team. A Mob is that team in session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Same people, two words for two states. No new ceremony to schedule - picture your Pod round a screen with the AI.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5346040" cy="3063240"/>
          </a:xfrm>
          <a:prstGeom prst="roundRect">
            <a:avLst>
              <a:gd name="adj" fmla="val 388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624328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EEF3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75234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2660904"/>
            <a:ext cx="397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STANDING TEAM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64208" y="2862072"/>
            <a:ext cx="397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2688" y="3429000"/>
            <a:ext cx="461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small, cross-functional team of 4-6 that owns an outcome end to end - not a layer, not a function.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50976" y="4123944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4023360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Pod lead clarifies, prioritises and keeps the Pods talking.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50976" y="4507992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" y="4407408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Mostly developers, ranging wider as the AI handles specialist legwork.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50976" y="4892040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7" name="Text 14"/>
          <p:cNvSpPr/>
          <p:nvPr/>
        </p:nvSpPr>
        <p:spPr>
          <a:xfrm>
            <a:off x="1170432" y="4791456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 separate QA Pod - validating the AI's output is the Pod's own job.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78728" y="2240280"/>
            <a:ext cx="5346040" cy="3063240"/>
          </a:xfrm>
          <a:prstGeom prst="roundRect">
            <a:avLst>
              <a:gd name="adj" fmla="val 388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44488" y="2624328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F7EAF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504" y="2752344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76008" y="2660904"/>
            <a:ext cx="397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31D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TEAM IN SESSION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76008" y="2862072"/>
            <a:ext cx="397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644488" y="3429000"/>
            <a:ext cx="461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Pod, plus whoever owns the Intent, working a phase with the AI on a shared screen.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662776" y="4123944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A31DC6"/>
          </a:solidFill>
          <a:ln/>
        </p:spPr>
      </p:sp>
      <p:sp>
        <p:nvSpPr>
          <p:cNvPr id="25" name="Text 21"/>
          <p:cNvSpPr/>
          <p:nvPr/>
        </p:nvSpPr>
        <p:spPr>
          <a:xfrm>
            <a:off x="6882232" y="4023360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 Elaboration  </a:t>
            </a:r>
            <a:pPr indent="0" marL="0">
              <a:buNone/>
            </a:pPr>
            <a:r>
              <a:rPr lang="en-US" sz="12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working an Intent into Units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662776" y="4507992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A31DC6"/>
          </a:solidFill>
          <a:ln/>
        </p:spPr>
      </p:sp>
      <p:sp>
        <p:nvSpPr>
          <p:cNvPr id="27" name="Text 23"/>
          <p:cNvSpPr/>
          <p:nvPr/>
        </p:nvSpPr>
        <p:spPr>
          <a:xfrm>
            <a:off x="6882232" y="4407408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 Construction  </a:t>
            </a:r>
            <a:pPr indent="0" marL="0">
              <a:buNone/>
            </a:pPr>
            <a:r>
              <a:rPr lang="en-US" sz="12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building a Unit into code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662776" y="4892040"/>
            <a:ext cx="109728" cy="109728"/>
          </a:xfrm>
          <a:prstGeom prst="roundRect">
            <a:avLst>
              <a:gd name="adj" fmla="val 18000"/>
            </a:avLst>
          </a:prstGeom>
          <a:solidFill>
            <a:srgbClr val="A31DC6"/>
          </a:solidFill>
          <a:ln/>
        </p:spPr>
      </p:sp>
      <p:sp>
        <p:nvSpPr>
          <p:cNvPr id="29" name="Text 25"/>
          <p:cNvSpPr/>
          <p:nvPr/>
        </p:nvSpPr>
        <p:spPr>
          <a:xfrm>
            <a:off x="6882232" y="4791456"/>
            <a:ext cx="438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 Testing  </a:t>
            </a:r>
            <a:pPr indent="0" marL="0">
              <a:buNone/>
            </a:pPr>
            <a:r>
              <a:rPr lang="en-US" sz="12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validating what got built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66928" y="55595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A526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At our scale, realistically </a:t>
            </a:r>
            <a:pPr algn="l" indent="0" marL="0">
              <a:buNone/>
            </a:pPr>
            <a:r>
              <a:rPr lang="en-US" sz="1600" b="1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two Pods, maybe three</a:t>
            </a:r>
            <a:pPr algn="l" indent="0" marL="0">
              <a:buNone/>
            </a:pPr>
            <a:r>
              <a:rPr lang="en-US" sz="1600" dirty="0">
                <a:solidFill>
                  <a:srgbClr val="5A526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 if we lean on part-time specialists.</a:t>
            </a:r>
            <a:endParaRPr lang="en-US" sz="1600" dirty="0"/>
          </a:p>
        </p:txBody>
      </p:sp>
      <p:pic>
        <p:nvPicPr>
          <p:cNvPr id="31" name="Image 2" descr="assets/wordmark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PODS AND MOBS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6FA0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GUARDRAIL THAT COMES FIRST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Human-in-the-Loop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AI plans and executes; humans decide and validate. Four rules keep it that 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364328" cy="1847088"/>
          </a:xfrm>
          <a:prstGeom prst="roundRect">
            <a:avLst>
              <a:gd name="adj" fmla="val 5941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898648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2430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30449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01368" y="2670048"/>
            <a:ext cx="399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01368" y="2871216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Does the work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801368" y="327355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Proposes the plan, drafts the design and code, runs the tests.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0440" y="2286000"/>
            <a:ext cx="5364328" cy="1847088"/>
          </a:xfrm>
          <a:prstGeom prst="roundRect">
            <a:avLst>
              <a:gd name="adj" fmla="val 5941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6200" y="2898648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3A2330"/>
          </a:solidFill>
          <a:ln/>
        </p:spPr>
      </p:sp>
      <p:sp>
        <p:nvSpPr>
          <p:cNvPr id="14" name="Shape 11"/>
          <p:cNvSpPr/>
          <p:nvPr/>
        </p:nvSpPr>
        <p:spPr>
          <a:xfrm>
            <a:off x="6818224" y="3090672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5" name="Text 12"/>
          <p:cNvSpPr/>
          <p:nvPr/>
        </p:nvSpPr>
        <p:spPr>
          <a:xfrm>
            <a:off x="7494880" y="2670048"/>
            <a:ext cx="399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HUMAN GATE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4880" y="2871216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gate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494880" y="3273552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person reviews and signs off at every decision that matters.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4462272"/>
            <a:ext cx="5364328" cy="1847088"/>
          </a:xfrm>
          <a:prstGeom prst="roundRect">
            <a:avLst>
              <a:gd name="adj" fmla="val 5941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507492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24304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5221224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01368" y="4846320"/>
            <a:ext cx="399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801368" y="504748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Asks, never assumes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1801368" y="5449824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Open questions come to you as multiple choice, with an Other option.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260440" y="4462272"/>
            <a:ext cx="5364328" cy="1847088"/>
          </a:xfrm>
          <a:prstGeom prst="roundRect">
            <a:avLst>
              <a:gd name="adj" fmla="val 5941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26200" y="507492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3A2330"/>
          </a:solidFill>
          <a:ln/>
        </p:spPr>
      </p:sp>
      <p:sp>
        <p:nvSpPr>
          <p:cNvPr id="26" name="Shape 22"/>
          <p:cNvSpPr/>
          <p:nvPr/>
        </p:nvSpPr>
        <p:spPr>
          <a:xfrm>
            <a:off x="6818224" y="526694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7" name="Text 23"/>
          <p:cNvSpPr/>
          <p:nvPr/>
        </p:nvSpPr>
        <p:spPr>
          <a:xfrm>
            <a:off x="7494880" y="4846320"/>
            <a:ext cx="399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HUMAN GATE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7494880" y="504748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Nothing on shaky ground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7494880" y="5449824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 is checked for contradictions and gaps before it advances.</a:t>
            </a:r>
            <a:endParaRPr lang="en-US" sz="1250" dirty="0"/>
          </a:p>
        </p:txBody>
      </p:sp>
      <p:pic>
        <p:nvPicPr>
          <p:cNvPr id="30" name="Image 2" descr="assets/wordmar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HUMAN-IN-THE-LOOP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6FA0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FAILURE MODE TO WATCH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Gates only work if you actually use them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46040" cy="3383280"/>
          </a:xfrm>
          <a:prstGeom prst="roundRect">
            <a:avLst>
              <a:gd name="adj" fmla="val 3514"/>
            </a:avLst>
          </a:prstGeom>
          <a:solidFill>
            <a:srgbClr val="1E1726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395728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3A23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328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3200400"/>
            <a:ext cx="457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Process atrophy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" y="3703320"/>
            <a:ext cx="456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failure mode is drifting into rubber-stamping the AI instead of reviewing it - letting the agent decide everything.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50976" y="4526280"/>
            <a:ext cx="456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gates exist so automation amplifies your judgment instead of quietly replacing 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78728" y="2011680"/>
            <a:ext cx="5346040" cy="3383280"/>
          </a:xfrm>
          <a:prstGeom prst="roundRect">
            <a:avLst>
              <a:gd name="adj" fmla="val 3514"/>
            </a:avLst>
          </a:prstGeom>
          <a:solidFill>
            <a:srgbClr val="201A2C"/>
          </a:solidFill>
          <a:ln w="12700">
            <a:solidFill>
              <a:srgbClr val="352D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62776" y="2395728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24304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936" y="25328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62776" y="3200400"/>
            <a:ext cx="457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signal to slow down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62776" y="3703320"/>
            <a:ext cx="456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If you ever notice the Pod approving rather than reviewing, that is the cue.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662776" y="4480560"/>
            <a:ext cx="4577944" cy="566928"/>
          </a:xfrm>
          <a:prstGeom prst="roundRect">
            <a:avLst>
              <a:gd name="adj" fmla="val 16129"/>
            </a:avLst>
          </a:prstGeom>
          <a:solidFill>
            <a:srgbClr val="24304A"/>
          </a:solidFill>
          <a:ln/>
        </p:spPr>
      </p:sp>
      <p:sp>
        <p:nvSpPr>
          <p:cNvPr id="17" name="Text 13"/>
          <p:cNvSpPr/>
          <p:nvPr/>
        </p:nvSpPr>
        <p:spPr>
          <a:xfrm>
            <a:off x="6845656" y="4480560"/>
            <a:ext cx="424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A0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Slow down at the checkpoints, not speed up.</a:t>
            </a:r>
            <a:endParaRPr lang="en-US" sz="1350" dirty="0"/>
          </a:p>
        </p:txBody>
      </p:sp>
      <p:pic>
        <p:nvPicPr>
          <p:cNvPr id="18" name="Image 2" descr="assets/wordmar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PROCESS ATROPHY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ADAPTIVE DEPTH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Scale the process to the change, not the other way round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release valve that keeps the method light for a small team. The AI proposes a path sized to the work; you check it and adjust. Two things scale, not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53460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74320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7EA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8712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761488"/>
            <a:ext cx="397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DIAL 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45920" y="2980944"/>
            <a:ext cx="397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Breadth  </a:t>
            </a:r>
            <a:pPr indent="0" marL="0">
              <a:buNone/>
            </a:pPr>
            <a:r>
              <a:rPr lang="en-US" sz="16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which stages run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2688" y="3520440"/>
            <a:ext cx="4596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defect fix skips requirements analysis and domain modelling and goes almost straight to the fix. A new feature gets the full run. The AI proposes which stages earn their place.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78728" y="2377440"/>
            <a:ext cx="534604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44488" y="2743200"/>
            <a:ext cx="566928" cy="566928"/>
          </a:xfrm>
          <a:prstGeom prst="roundRect">
            <a:avLst>
              <a:gd name="adj" fmla="val 20968"/>
            </a:avLst>
          </a:prstGeom>
          <a:solidFill>
            <a:srgbClr val="F7EA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504" y="287121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57720" y="2761488"/>
            <a:ext cx="397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DIAL 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57720" y="2980944"/>
            <a:ext cx="397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Depth  </a:t>
            </a:r>
            <a:pPr indent="0" marL="0">
              <a:buNone/>
            </a:pPr>
            <a:r>
              <a:rPr lang="en-US" sz="16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how far each goes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644488" y="3520440"/>
            <a:ext cx="4596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3C344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Even when a stage runs, it can run light or deep. A trivial utility needs no architecture deep-dive; a new billing flow does. The gates that keep you in control are never skipped.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5029200"/>
            <a:ext cx="11057839" cy="914400"/>
          </a:xfrm>
          <a:prstGeom prst="roundRect">
            <a:avLst>
              <a:gd name="adj" fmla="val 13000"/>
            </a:avLst>
          </a:prstGeom>
          <a:solidFill>
            <a:srgbClr val="16101D"/>
          </a:solidFill>
          <a:ln/>
        </p:spPr>
      </p:sp>
      <p:sp>
        <p:nvSpPr>
          <p:cNvPr id="19" name="Text 15"/>
          <p:cNvSpPr/>
          <p:nvPr/>
        </p:nvSpPr>
        <p:spPr>
          <a:xfrm>
            <a:off x="978408" y="5029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“Not scripted, but steered.”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093208" y="5230368"/>
            <a:ext cx="0" cy="512064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67528" y="5029200"/>
            <a:ext cx="5845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When in doubt, ask what this change actually needs - then do that much, and no more.</a:t>
            </a:r>
            <a:endParaRPr lang="en-US" sz="1450" dirty="0"/>
          </a:p>
        </p:txBody>
      </p:sp>
      <p:pic>
        <p:nvPicPr>
          <p:cNvPr id="22" name="Image 2" descr="assets/wordmark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ADAPTIVE DEPTH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BROWNFIELD FIRST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Read the code before proposing the change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 work is changes to Airship and Toggle, not new builds. So the loop starts by understanding what already exists.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5943600" cy="3520440"/>
          </a:xfrm>
          <a:prstGeom prst="roundRect">
            <a:avLst>
              <a:gd name="adj" fmla="val 3377"/>
            </a:avLst>
          </a:prstGeom>
          <a:solidFill>
            <a:srgbClr val="16101D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743200"/>
            <a:ext cx="658368" cy="658368"/>
          </a:xfrm>
          <a:prstGeom prst="roundRect">
            <a:avLst>
              <a:gd name="adj" fmla="val 20833"/>
            </a:avLst>
          </a:prstGeom>
          <a:solidFill>
            <a:srgbClr val="2430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88950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36118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REVERSE-ENGINEERING STEP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78408" y="390448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The AI reads the existing code into context before proposing anything.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78408" y="5029200"/>
            <a:ext cx="5102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Proposals fit the system as it is, not a clean-sheet idea of it - so a change lands in real code rather than fighting it.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76288" y="2331720"/>
            <a:ext cx="4748479" cy="1623060"/>
          </a:xfrm>
          <a:prstGeom prst="roundRect">
            <a:avLst>
              <a:gd name="adj" fmla="val 7324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60336" y="2697480"/>
            <a:ext cx="4016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MOST WORK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260336" y="2935224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Brownfield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260336" y="3410712"/>
            <a:ext cx="3971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Changes to Airship and Toggle. Read first, then propose.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76288" y="4229100"/>
            <a:ext cx="4748479" cy="1623060"/>
          </a:xfrm>
          <a:prstGeom prst="roundRect">
            <a:avLst>
              <a:gd name="adj" fmla="val 7324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260336" y="4594860"/>
            <a:ext cx="4016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1DC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EXCEPTION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260336" y="4832604"/>
            <a:ext cx="401695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Greenfield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7260336" y="5308092"/>
            <a:ext cx="3971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New builds get the full run from a blank start.</a:t>
            </a:r>
            <a:endParaRPr lang="en-US" sz="1300" dirty="0"/>
          </a:p>
        </p:txBody>
      </p:sp>
      <p:pic>
        <p:nvPicPr>
          <p:cNvPr id="20" name="Image 1" descr="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BROWNFIELD FIRST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One Bolt, start to done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loop, made concrete - alternating AI work and human gates, inside a single slice.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468880"/>
            <a:ext cx="1644853" cy="2468880"/>
          </a:xfrm>
          <a:prstGeom prst="roundRect">
            <a:avLst>
              <a:gd name="adj" fmla="val 667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6747" y="2779776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EEF3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763" y="29077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493008"/>
            <a:ext cx="14619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" y="3694176"/>
            <a:ext cx="1352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proposes the plan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3232" y="4261104"/>
            <a:ext cx="135224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Which stages this slice needs, and how deep.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49525" y="2468880"/>
            <a:ext cx="1644853" cy="2468880"/>
          </a:xfrm>
          <a:prstGeom prst="roundRect">
            <a:avLst>
              <a:gd name="adj" fmla="val 6671"/>
            </a:avLst>
          </a:prstGeom>
          <a:solidFill>
            <a:srgbClr val="16101D"/>
          </a:solidFill>
          <a:ln/>
          <a:effectLst>
            <a:outerShdw sx="100000" sy="100000" kx="0" ky="0" algn="bl" rotWithShape="0" blurRad="114300" dist="38100" dir="5400000">
              <a:srgbClr val="16101D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79344" y="2779776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3A2330"/>
          </a:solidFill>
          <a:ln/>
        </p:spPr>
      </p:sp>
      <p:sp>
        <p:nvSpPr>
          <p:cNvPr id="14" name="Shape 11"/>
          <p:cNvSpPr/>
          <p:nvPr/>
        </p:nvSpPr>
        <p:spPr>
          <a:xfrm>
            <a:off x="3153080" y="293522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15" name="Text 12"/>
          <p:cNvSpPr/>
          <p:nvPr/>
        </p:nvSpPr>
        <p:spPr>
          <a:xfrm>
            <a:off x="2540965" y="3493008"/>
            <a:ext cx="14619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95829" y="3694176"/>
            <a:ext cx="1352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Gate: scope and depth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595829" y="4261104"/>
            <a:ext cx="135224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 checks the path, trims or adds before it runs.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32122" y="2468880"/>
            <a:ext cx="1644853" cy="2468880"/>
          </a:xfrm>
          <a:prstGeom prst="roundRect">
            <a:avLst>
              <a:gd name="adj" fmla="val 667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61941" y="2779776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EEF3FE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957" y="2907792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23562" y="3493008"/>
            <a:ext cx="14619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478426" y="3694176"/>
            <a:ext cx="1352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designs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478426" y="4261104"/>
            <a:ext cx="135224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Domain then logical design, generated for review.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214720" y="2468880"/>
            <a:ext cx="1644853" cy="2468880"/>
          </a:xfrm>
          <a:prstGeom prst="roundRect">
            <a:avLst>
              <a:gd name="adj" fmla="val 6671"/>
            </a:avLst>
          </a:prstGeom>
          <a:solidFill>
            <a:srgbClr val="16101D"/>
          </a:solidFill>
          <a:ln/>
          <a:effectLst>
            <a:outerShdw sx="100000" sy="100000" kx="0" ky="0" algn="bl" rotWithShape="0" blurRad="114300" dist="38100" dir="5400000">
              <a:srgbClr val="16101D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744538" y="2779776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3A2330"/>
          </a:solidFill>
          <a:ln/>
        </p:spPr>
      </p:sp>
      <p:sp>
        <p:nvSpPr>
          <p:cNvPr id="26" name="Shape 22"/>
          <p:cNvSpPr/>
          <p:nvPr/>
        </p:nvSpPr>
        <p:spPr>
          <a:xfrm>
            <a:off x="6918274" y="293522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7" name="Text 23"/>
          <p:cNvSpPr/>
          <p:nvPr/>
        </p:nvSpPr>
        <p:spPr>
          <a:xfrm>
            <a:off x="6306160" y="3493008"/>
            <a:ext cx="14619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61024" y="3694176"/>
            <a:ext cx="1352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Gate: trade-offs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361024" y="4261104"/>
            <a:ext cx="135224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 decides the calls the design surfaces.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8097317" y="2468880"/>
            <a:ext cx="1644853" cy="2468880"/>
          </a:xfrm>
          <a:prstGeom prst="roundRect">
            <a:avLst>
              <a:gd name="adj" fmla="val 667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7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627135" y="2779776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EEF3F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151" y="2907792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188757" y="3493008"/>
            <a:ext cx="14619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3B7BF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243621" y="3694176"/>
            <a:ext cx="1352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writes code and tests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8243621" y="4261104"/>
            <a:ext cx="135224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Generated together, run, and reported back.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9979914" y="2468880"/>
            <a:ext cx="1644853" cy="2468880"/>
          </a:xfrm>
          <a:prstGeom prst="roundRect">
            <a:avLst>
              <a:gd name="adj" fmla="val 6671"/>
            </a:avLst>
          </a:prstGeom>
          <a:solidFill>
            <a:srgbClr val="16101D"/>
          </a:solidFill>
          <a:ln/>
          <a:effectLst>
            <a:outerShdw sx="100000" sy="100000" kx="0" ky="0" algn="bl" rotWithShape="0" blurRad="114300" dist="38100" dir="5400000">
              <a:srgbClr val="16101D">
                <a:alpha val="14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10509733" y="2779776"/>
            <a:ext cx="585216" cy="585216"/>
          </a:xfrm>
          <a:prstGeom prst="roundRect">
            <a:avLst>
              <a:gd name="adj" fmla="val 21875"/>
            </a:avLst>
          </a:prstGeom>
          <a:solidFill>
            <a:srgbClr val="3A2330"/>
          </a:solidFill>
          <a:ln/>
        </p:spPr>
      </p:sp>
      <p:sp>
        <p:nvSpPr>
          <p:cNvPr id="38" name="Shape 33"/>
          <p:cNvSpPr/>
          <p:nvPr/>
        </p:nvSpPr>
        <p:spPr>
          <a:xfrm>
            <a:off x="10683469" y="293522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39" name="Text 34"/>
          <p:cNvSpPr/>
          <p:nvPr/>
        </p:nvSpPr>
        <p:spPr>
          <a:xfrm>
            <a:off x="10071354" y="3493008"/>
            <a:ext cx="14619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126218" y="3694176"/>
            <a:ext cx="1352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Gate: validate</a:t>
            </a:r>
            <a:endParaRPr lang="en-US" sz="1250" dirty="0"/>
          </a:p>
        </p:txBody>
      </p:sp>
      <p:sp>
        <p:nvSpPr>
          <p:cNvPr id="41" name="Text 36"/>
          <p:cNvSpPr/>
          <p:nvPr/>
        </p:nvSpPr>
        <p:spPr>
          <a:xfrm>
            <a:off x="10126218" y="4261104"/>
            <a:ext cx="135224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 checks the result against the success measure.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566928" y="5230368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EFF9F1"/>
          </a:solidFill>
          <a:ln w="12700">
            <a:solidFill>
              <a:srgbClr val="CDEBD5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449824"/>
            <a:ext cx="310896" cy="31089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389888" y="5230368"/>
            <a:ext cx="98691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703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Done in hours to days:  </a:t>
            </a:r>
            <a:pPr indent="0" marL="0">
              <a:buNone/>
            </a:pPr>
            <a:r>
              <a:rPr lang="en-US" sz="1400" dirty="0">
                <a:solidFill>
                  <a:srgbClr val="2C6B43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tested, deployable, and traceable back to the story that started it.</a:t>
            </a:r>
            <a:endParaRPr lang="en-US" sz="1400" dirty="0"/>
          </a:p>
        </p:txBody>
      </p:sp>
      <p:pic>
        <p:nvPicPr>
          <p:cNvPr id="45" name="Image 4" descr="assets/wordmark_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WORKED EXAMPLE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0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FB5B4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66928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A31DC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WHERE WE ARE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6101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Settled, and what still needs a call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This is an early draft. The shape is agreed; a handful of numbers are starting positions, not final.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5346040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50976" y="2624328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EAF6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4320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2624328"/>
            <a:ext cx="397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9D55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SETTLED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87552" y="340156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/>
        </p:spPr>
      </p:sp>
      <p:sp>
        <p:nvSpPr>
          <p:cNvPr id="11" name="Text 8"/>
          <p:cNvSpPr/>
          <p:nvPr/>
        </p:nvSpPr>
        <p:spPr>
          <a:xfrm>
            <a:off x="1225296" y="3300984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four-step loop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AI proposes, you gate, AI executes, you gate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87552" y="381304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/>
        </p:spPr>
      </p:sp>
      <p:sp>
        <p:nvSpPr>
          <p:cNvPr id="13" name="Text 10"/>
          <p:cNvSpPr/>
          <p:nvPr/>
        </p:nvSpPr>
        <p:spPr>
          <a:xfrm>
            <a:off x="1225296" y="3712464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Human-in-the-Loop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people decide and validate, always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87552" y="422452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/>
        </p:spPr>
      </p:sp>
      <p:sp>
        <p:nvSpPr>
          <p:cNvPr id="15" name="Text 12"/>
          <p:cNvSpPr/>
          <p:nvPr/>
        </p:nvSpPr>
        <p:spPr>
          <a:xfrm>
            <a:off x="1225296" y="4123944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Intent / Unit / Bolt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one vocabulary for sizing work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87552" y="463600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/>
        </p:spPr>
      </p:sp>
      <p:sp>
        <p:nvSpPr>
          <p:cNvPr id="17" name="Text 14"/>
          <p:cNvSpPr/>
          <p:nvPr/>
        </p:nvSpPr>
        <p:spPr>
          <a:xfrm>
            <a:off x="1225296" y="4535424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Pods and Mobs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standing team; same team in session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87552" y="504748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/>
        </p:spPr>
      </p:sp>
      <p:sp>
        <p:nvSpPr>
          <p:cNvPr id="19" name="Text 16"/>
          <p:cNvSpPr/>
          <p:nvPr/>
        </p:nvSpPr>
        <p:spPr>
          <a:xfrm>
            <a:off x="1225296" y="4946904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Brownfield first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read the code, then propose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87552" y="545896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1F9D55"/>
          </a:solidFill>
          <a:ln/>
        </p:spPr>
      </p:sp>
      <p:sp>
        <p:nvSpPr>
          <p:cNvPr id="21" name="Text 18"/>
          <p:cNvSpPr/>
          <p:nvPr/>
        </p:nvSpPr>
        <p:spPr>
          <a:xfrm>
            <a:off x="1225296" y="5358384"/>
            <a:ext cx="434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Adaptive depth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scale breadth and depth to the change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78728" y="2240280"/>
            <a:ext cx="5346040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 w="12700">
            <a:solidFill>
              <a:srgbClr val="E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16101D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62776" y="2624328"/>
            <a:ext cx="548640" cy="548640"/>
          </a:xfrm>
          <a:prstGeom prst="roundRect">
            <a:avLst>
              <a:gd name="adj" fmla="val 21667"/>
            </a:avLst>
          </a:prstGeom>
          <a:solidFill>
            <a:srgbClr val="FEEEE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648" y="2743200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39432" y="2624328"/>
            <a:ext cx="397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NEEDS A DECISION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699352" y="3401568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7" name="Text 23"/>
          <p:cNvSpPr/>
          <p:nvPr/>
        </p:nvSpPr>
        <p:spPr>
          <a:xfrm>
            <a:off x="6937096" y="3300984"/>
            <a:ext cx="434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Bolt length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- 1-3 days is a starting position, not a rule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99352" y="3877056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29" name="Text 25"/>
          <p:cNvSpPr/>
          <p:nvPr/>
        </p:nvSpPr>
        <p:spPr>
          <a:xfrm>
            <a:off x="6937096" y="3776472"/>
            <a:ext cx="434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Operations depth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how far the loop reaches into running systems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99352" y="4352544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31" name="Text 27"/>
          <p:cNvSpPr/>
          <p:nvPr/>
        </p:nvSpPr>
        <p:spPr>
          <a:xfrm>
            <a:off x="6937096" y="4251960"/>
            <a:ext cx="434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Number of Pods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two, or three with part-time specialists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699352" y="48280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33" name="Text 29"/>
          <p:cNvSpPr/>
          <p:nvPr/>
        </p:nvSpPr>
        <p:spPr>
          <a:xfrm>
            <a:off x="6937096" y="4727448"/>
            <a:ext cx="434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Release and monitoring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where existing practice meets the new loop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699352" y="5303520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35" name="Text 31"/>
          <p:cNvSpPr/>
          <p:nvPr/>
        </p:nvSpPr>
        <p:spPr>
          <a:xfrm>
            <a:off x="6937096" y="5202936"/>
            <a:ext cx="434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01D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First Intent  </a:t>
            </a:r>
            <a:pPr indent="0" marL="0">
              <a:buNone/>
            </a:pPr>
            <a:r>
              <a:rPr lang="en-US" sz="125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- which real change we run through the loop first</a:t>
            </a:r>
            <a:endParaRPr lang="en-US" sz="1250" dirty="0"/>
          </a:p>
        </p:txBody>
      </p:sp>
      <p:pic>
        <p:nvPicPr>
          <p:cNvPr id="36" name="Image 2" descr="assets/wordmark_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82512"/>
            <a:ext cx="1077375" cy="1828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872903" y="6355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WHERE WE ARE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10527487" y="6355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5A526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502920"/>
            <a:ext cx="146304" cy="14630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786384"/>
            <a:ext cx="100584" cy="100584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4" name="Shape 2"/>
          <p:cNvSpPr/>
          <p:nvPr/>
        </p:nvSpPr>
        <p:spPr>
          <a:xfrm>
            <a:off x="11448288" y="905256"/>
            <a:ext cx="82296" cy="82296"/>
          </a:xfrm>
          <a:prstGeom prst="roundRect">
            <a:avLst>
              <a:gd name="adj" fmla="val 18000"/>
            </a:avLst>
          </a:prstGeom>
          <a:solidFill>
            <a:srgbClr val="FB5B4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005840"/>
            <a:ext cx="110578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AI builds.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 decide.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Move fast on the work, stay deliberate on the calls. That is the whole method.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2490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66928" y="4590288"/>
            <a:ext cx="2352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phases: Inception, Construction, Operations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1388" y="3840480"/>
            <a:ext cx="0" cy="1097280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2284" y="3749040"/>
            <a:ext cx="2490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4-6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642284" y="4590288"/>
            <a:ext cx="2352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people per Pod - small enough to stay high-bandwidth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5848" y="3840480"/>
            <a:ext cx="0" cy="1097280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6744" y="3749040"/>
            <a:ext cx="2490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1-3d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06744" y="4590288"/>
            <a:ext cx="2352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 Bolt, not weeks (starting position)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60307" y="3840480"/>
            <a:ext cx="0" cy="1097280"/>
          </a:xfrm>
          <a:prstGeom prst="line">
            <a:avLst/>
          </a:prstGeom>
          <a:noFill/>
          <a:ln w="12700">
            <a:solidFill>
              <a:srgbClr val="352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1203" y="3749040"/>
            <a:ext cx="24901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9171203" y="4590288"/>
            <a:ext cx="2352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D6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roles: the AI builds, you decide</a:t>
            </a:r>
            <a:endParaRPr lang="en-US" sz="1150" dirty="0"/>
          </a:p>
        </p:txBody>
      </p:sp>
      <p:pic>
        <p:nvPicPr>
          <p:cNvPr id="18" name="Image 0" descr="assets/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989320"/>
            <a:ext cx="1400587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6928" y="62910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AI-DLC playbook - moving from Agile to an AI-driven development lifecycle, adapted for how we work on Airship and Toggle.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23760" y="6080760"/>
            <a:ext cx="44010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50" b="1" spc="200" kern="0" dirty="0">
                <a:solidFill>
                  <a:srgbClr val="FB5B4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INTERNAL  /  AIRSHIP &amp; TOGGLE</a:t>
            </a:r>
            <a:endParaRPr lang="en-US" sz="95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B8FA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Early draft. Items marked “starting position” need a decision before they are final.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AI-DLC - How the development cycle works</dc:title>
  <dc:subject>PptxGenJS Presentation</dc:subject>
  <dc:creator>Flight Deck</dc:creator>
  <cp:lastModifiedBy>Flight Deck</cp:lastModifiedBy>
  <cp:revision>1</cp:revision>
  <dcterms:created xsi:type="dcterms:W3CDTF">2026-06-29T07:47:22Z</dcterms:created>
  <dcterms:modified xsi:type="dcterms:W3CDTF">2026-06-29T07:47:22Z</dcterms:modified>
</cp:coreProperties>
</file>